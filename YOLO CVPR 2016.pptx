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6858000" cx="9144000"/>
  <p:notesSz cx="6858000" cy="9144000"/>
  <p:embeddedFontLst>
    <p:embeddedFont>
      <p:font typeface="Ubuntu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856B20-50A5-466E-9667-D701A1A0AF8C}">
  <a:tblStyle styleId="{A7856B20-50A5-466E-9667-D701A1A0AF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Ubuntu-bold.fntdata"/><Relationship Id="rId10" Type="http://schemas.openxmlformats.org/officeDocument/2006/relationships/slide" Target="slides/slide5.xml"/><Relationship Id="rId54" Type="http://schemas.openxmlformats.org/officeDocument/2006/relationships/font" Target="fonts/Ubuntu-regular.fntdata"/><Relationship Id="rId13" Type="http://schemas.openxmlformats.org/officeDocument/2006/relationships/slide" Target="slides/slide8.xml"/><Relationship Id="rId57" Type="http://schemas.openxmlformats.org/officeDocument/2006/relationships/font" Target="fonts/Ubuntu-boldItalic.fntdata"/><Relationship Id="rId12" Type="http://schemas.openxmlformats.org/officeDocument/2006/relationships/slide" Target="slides/slide7.xml"/><Relationship Id="rId56" Type="http://schemas.openxmlformats.org/officeDocument/2006/relationships/font" Target="fonts/Ubuntu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4f95ab154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4f95ab15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50bad67fe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50bad67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5092aa245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5092aa2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5092aa245_0_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5092aa24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5092aa245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5092aa24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5092aa245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5092aa24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092aa245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5092aa24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51008b386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51008b3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5092aa245_0_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5092aa24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51008b386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51008b38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51008b386_0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51008b38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5092aa245_0_8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5092aa24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51008b386_0_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51008b38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51008b386_0_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51008b38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5092aa245_0_1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5092aa24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5092aa245_0_1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5092aa24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5092aa245_0_1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5092aa24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5092aa245_0_1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5092aa245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5092aa245_0_1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5092aa24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5092aa245_0_1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5092aa245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5092aa245_0_17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5092aa245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5092aa245_0_2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5092aa245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5092aa245_0_1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5092aa245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50bad67fe_1_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50bad67f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5092aa245_0_2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5092aa245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5092aa245_0_2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5092aa245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5092aa245_0_2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5092aa245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51008b386_0_5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51008b38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5092aa245_0_2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5092aa245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5092aa245_0_2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5092aa245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5092aa245_0_27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5092aa245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5092aa245_0_2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5092aa245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5092aa245_0_30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5092aa245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5092aa245_0_3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5092aa245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5092aa245_0_3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5092aa245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5092aa245_0_29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5092aa245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5092aa245_0_33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5092aa245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5092aa245_0_3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5092aa245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5092aa245_0_3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5092aa245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5092aa245_0_3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5092aa245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5092aa245_0_37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5092aa245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5092aa245_0_38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5092aa245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5092aa245_0_4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5092aa245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5092aa245_0_40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5092aa245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5092aa245_0_4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5092aa245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5092aa245_0_4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5092aa245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51008b386_0_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51008b38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6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6.jpg"/><Relationship Id="rId4" Type="http://schemas.openxmlformats.org/officeDocument/2006/relationships/image" Target="../media/image19.jpg"/><Relationship Id="rId5" Type="http://schemas.openxmlformats.org/officeDocument/2006/relationships/image" Target="../media/image27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80"/>
            <a:ext cx="9143999" cy="6853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Ubuntu"/>
                <a:ea typeface="Ubuntu"/>
                <a:cs typeface="Ubuntu"/>
                <a:sym typeface="Ubuntu"/>
              </a:rPr>
              <a:t>Accurate object detection is slow!</a:t>
            </a:r>
            <a:endParaRPr sz="3600"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952500" y="197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{A7856B20-50A5-466E-9667-D701A1A0AF8C}</a:tableStyleId>
              </a:tblPr>
              <a:tblGrid>
                <a:gridCol w="1809750"/>
                <a:gridCol w="2969475"/>
                <a:gridCol w="1029175"/>
                <a:gridCol w="1430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Pascal 2007 mAP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Speed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DPM v5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33.7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.07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14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Ubuntu"/>
                <a:ea typeface="Ubuntu"/>
                <a:cs typeface="Ubuntu"/>
                <a:sym typeface="Ubuntu"/>
              </a:rPr>
              <a:t>Accurate object detection is slow!</a:t>
            </a:r>
            <a:endParaRPr sz="3600"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75" name="Google Shape;75;p16"/>
          <p:cNvGraphicFramePr/>
          <p:nvPr/>
        </p:nvGraphicFramePr>
        <p:xfrm>
          <a:off x="952500" y="197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{A7856B20-50A5-466E-9667-D701A1A0AF8C}</a:tableStyleId>
              </a:tblPr>
              <a:tblGrid>
                <a:gridCol w="1809750"/>
                <a:gridCol w="2969475"/>
                <a:gridCol w="1029175"/>
                <a:gridCol w="1430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Pascal 2007 mAP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Speed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DPM v5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33.7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.07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14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66.0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.05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20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Ubuntu"/>
                <a:ea typeface="Ubuntu"/>
                <a:cs typeface="Ubuntu"/>
                <a:sym typeface="Ubuntu"/>
              </a:rPr>
              <a:t>Accurate object detection is slow!</a:t>
            </a:r>
            <a:endParaRPr sz="3600"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81" name="Google Shape;81;p17"/>
          <p:cNvGraphicFramePr/>
          <p:nvPr/>
        </p:nvGraphicFramePr>
        <p:xfrm>
          <a:off x="952500" y="197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{A7856B20-50A5-466E-9667-D701A1A0AF8C}</a:tableStyleId>
              </a:tblPr>
              <a:tblGrid>
                <a:gridCol w="1809750"/>
                <a:gridCol w="2969475"/>
                <a:gridCol w="1029175"/>
                <a:gridCol w="1430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Pascal 2007 mAP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Speed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DPM v5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33.7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.07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14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66.0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.05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20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" name="Google Shape;82;p17"/>
          <p:cNvSpPr txBox="1"/>
          <p:nvPr/>
        </p:nvSpPr>
        <p:spPr>
          <a:xfrm>
            <a:off x="2966275" y="5397200"/>
            <a:ext cx="42597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Ubuntu"/>
                <a:ea typeface="Ubuntu"/>
                <a:cs typeface="Ubuntu"/>
                <a:sym typeface="Ubuntu"/>
              </a:rPr>
              <a:t>⅓ Mile, 1760 feet</a:t>
            </a:r>
            <a:endParaRPr sz="3600"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80525"/>
            <a:ext cx="2544306" cy="1577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" name="Google Shape;84;p17"/>
          <p:cNvCxnSpPr>
            <a:stCxn id="83" idx="3"/>
          </p:cNvCxnSpPr>
          <p:nvPr/>
        </p:nvCxnSpPr>
        <p:spPr>
          <a:xfrm>
            <a:off x="2544306" y="6069262"/>
            <a:ext cx="65661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Ubuntu"/>
                <a:ea typeface="Ubuntu"/>
                <a:cs typeface="Ubuntu"/>
                <a:sym typeface="Ubuntu"/>
              </a:rPr>
              <a:t>Accurate object detection is slow!</a:t>
            </a:r>
            <a:endParaRPr sz="3600"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90" name="Google Shape;90;p18"/>
          <p:cNvGraphicFramePr/>
          <p:nvPr/>
        </p:nvGraphicFramePr>
        <p:xfrm>
          <a:off x="952500" y="197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{A7856B20-50A5-466E-9667-D701A1A0AF8C}</a:tableStyleId>
              </a:tblPr>
              <a:tblGrid>
                <a:gridCol w="1809750"/>
                <a:gridCol w="2969475"/>
                <a:gridCol w="1029175"/>
                <a:gridCol w="1430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Pascal 2007 mAP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Speed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DPM v5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33.7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.07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14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66.0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.05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20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Fast 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70.0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.5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2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8"/>
          <p:cNvSpPr txBox="1"/>
          <p:nvPr/>
        </p:nvSpPr>
        <p:spPr>
          <a:xfrm>
            <a:off x="2966275" y="5397200"/>
            <a:ext cx="42597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Ubuntu"/>
                <a:ea typeface="Ubuntu"/>
                <a:cs typeface="Ubuntu"/>
                <a:sym typeface="Ubuntu"/>
              </a:rPr>
              <a:t>176 feet</a:t>
            </a:r>
            <a:endParaRPr sz="3600"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80525"/>
            <a:ext cx="2544306" cy="1577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8"/>
          <p:cNvCxnSpPr>
            <a:stCxn id="92" idx="3"/>
          </p:cNvCxnSpPr>
          <p:nvPr/>
        </p:nvCxnSpPr>
        <p:spPr>
          <a:xfrm>
            <a:off x="2544306" y="6069262"/>
            <a:ext cx="43695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Ubuntu"/>
                <a:ea typeface="Ubuntu"/>
                <a:cs typeface="Ubuntu"/>
                <a:sym typeface="Ubuntu"/>
              </a:rPr>
              <a:t>Accurate object detection is slow!</a:t>
            </a:r>
            <a:endParaRPr sz="3600"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99" name="Google Shape;99;p19"/>
          <p:cNvGraphicFramePr/>
          <p:nvPr/>
        </p:nvGraphicFramePr>
        <p:xfrm>
          <a:off x="952500" y="197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{A7856B20-50A5-466E-9667-D701A1A0AF8C}</a:tableStyleId>
              </a:tblPr>
              <a:tblGrid>
                <a:gridCol w="1809750"/>
                <a:gridCol w="2969475"/>
                <a:gridCol w="1029175"/>
                <a:gridCol w="1430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Pascal 2007 mAP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Speed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DPM v5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33.7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.07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14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66.0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.05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20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Fast 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70.0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.5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2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Faster 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73.2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7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140 ms/img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" name="Google Shape;100;p19"/>
          <p:cNvSpPr txBox="1"/>
          <p:nvPr/>
        </p:nvSpPr>
        <p:spPr>
          <a:xfrm>
            <a:off x="2787875" y="5397200"/>
            <a:ext cx="42597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Ubuntu"/>
                <a:ea typeface="Ubuntu"/>
                <a:cs typeface="Ubuntu"/>
                <a:sym typeface="Ubuntu"/>
              </a:rPr>
              <a:t>12</a:t>
            </a:r>
            <a:r>
              <a:rPr lang="en" sz="3600">
                <a:latin typeface="Ubuntu"/>
                <a:ea typeface="Ubuntu"/>
                <a:cs typeface="Ubuntu"/>
                <a:sym typeface="Ubuntu"/>
              </a:rPr>
              <a:t> feet</a:t>
            </a:r>
            <a:endParaRPr sz="3600"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80525"/>
            <a:ext cx="2544306" cy="1577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9"/>
          <p:cNvCxnSpPr>
            <a:stCxn id="101" idx="3"/>
          </p:cNvCxnSpPr>
          <p:nvPr/>
        </p:nvCxnSpPr>
        <p:spPr>
          <a:xfrm>
            <a:off x="2544306" y="6069262"/>
            <a:ext cx="2618700" cy="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9"/>
          <p:cNvCxnSpPr/>
          <p:nvPr/>
        </p:nvCxnSpPr>
        <p:spPr>
          <a:xfrm>
            <a:off x="275106" y="5117687"/>
            <a:ext cx="1994100" cy="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9"/>
          <p:cNvSpPr txBox="1"/>
          <p:nvPr/>
        </p:nvSpPr>
        <p:spPr>
          <a:xfrm>
            <a:off x="698850" y="4644425"/>
            <a:ext cx="42597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Ubuntu"/>
                <a:ea typeface="Ubuntu"/>
                <a:cs typeface="Ubuntu"/>
                <a:sym typeface="Ubuntu"/>
              </a:rPr>
              <a:t>8</a:t>
            </a:r>
            <a:r>
              <a:rPr lang="en" sz="2400">
                <a:latin typeface="Ubuntu"/>
                <a:ea typeface="Ubuntu"/>
                <a:cs typeface="Ubuntu"/>
                <a:sym typeface="Ubuntu"/>
              </a:rPr>
              <a:t> feet</a:t>
            </a:r>
            <a:endParaRPr sz="2400">
              <a:latin typeface="Ubuntu"/>
              <a:ea typeface="Ubuntu"/>
              <a:cs typeface="Ubuntu"/>
              <a:sym typeface="Ubuntu"/>
            </a:endParaRPr>
          </a:p>
        </p:txBody>
      </p:sp>
      <p:cxnSp>
        <p:nvCxnSpPr>
          <p:cNvPr id="105" name="Google Shape;105;p19"/>
          <p:cNvCxnSpPr/>
          <p:nvPr/>
        </p:nvCxnSpPr>
        <p:spPr>
          <a:xfrm rot="10800000">
            <a:off x="311706" y="4891637"/>
            <a:ext cx="0" cy="4521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9"/>
          <p:cNvCxnSpPr/>
          <p:nvPr/>
        </p:nvCxnSpPr>
        <p:spPr>
          <a:xfrm rot="10800000">
            <a:off x="2269206" y="4891637"/>
            <a:ext cx="0" cy="45210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Ubuntu"/>
                <a:ea typeface="Ubuntu"/>
                <a:cs typeface="Ubuntu"/>
                <a:sym typeface="Ubuntu"/>
              </a:rPr>
              <a:t>Accurate object detection is slow!</a:t>
            </a:r>
            <a:endParaRPr sz="3600"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112" name="Google Shape;112;p20"/>
          <p:cNvGraphicFramePr/>
          <p:nvPr/>
        </p:nvGraphicFramePr>
        <p:xfrm>
          <a:off x="952500" y="197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{A7856B20-50A5-466E-9667-D701A1A0AF8C}</a:tableStyleId>
              </a:tblPr>
              <a:tblGrid>
                <a:gridCol w="1809750"/>
                <a:gridCol w="2969475"/>
                <a:gridCol w="1029175"/>
                <a:gridCol w="1430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Pascal 2007 mAP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Speed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DPM v5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33.7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.07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14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66.0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.05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20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Fast 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70.0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.5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2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Faster 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73.2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7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140 ms/img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YOLO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63.4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45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22 ms/img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" name="Google Shape;113;p20"/>
          <p:cNvSpPr txBox="1"/>
          <p:nvPr/>
        </p:nvSpPr>
        <p:spPr>
          <a:xfrm>
            <a:off x="2375275" y="5397200"/>
            <a:ext cx="42597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Ubuntu"/>
                <a:ea typeface="Ubuntu"/>
                <a:cs typeface="Ubuntu"/>
                <a:sym typeface="Ubuntu"/>
              </a:rPr>
              <a:t>2 feet</a:t>
            </a:r>
            <a:endParaRPr sz="3600"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80525"/>
            <a:ext cx="2544306" cy="1577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20"/>
          <p:cNvCxnSpPr>
            <a:stCxn id="114" idx="3"/>
          </p:cNvCxnSpPr>
          <p:nvPr/>
        </p:nvCxnSpPr>
        <p:spPr>
          <a:xfrm>
            <a:off x="2544306" y="6069262"/>
            <a:ext cx="678300" cy="8100"/>
          </a:xfrm>
          <a:prstGeom prst="straightConnector1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Ubuntu"/>
                <a:ea typeface="Ubuntu"/>
                <a:cs typeface="Ubuntu"/>
                <a:sym typeface="Ubuntu"/>
              </a:rPr>
              <a:t>Accurate object detection is slow!</a:t>
            </a:r>
            <a:endParaRPr sz="3600"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121" name="Google Shape;121;p21"/>
          <p:cNvGraphicFramePr/>
          <p:nvPr/>
        </p:nvGraphicFramePr>
        <p:xfrm>
          <a:off x="952500" y="197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{A7856B20-50A5-466E-9667-D701A1A0AF8C}</a:tableStyleId>
              </a:tblPr>
              <a:tblGrid>
                <a:gridCol w="1809750"/>
                <a:gridCol w="2969475"/>
                <a:gridCol w="1029175"/>
                <a:gridCol w="1430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Pascal 2007 mAP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Speed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DPM v5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33.7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.07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14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66.0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.05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20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Fast 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70.0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.5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2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Faster 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73.2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7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140 ms/img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YOLO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63.4   69.0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45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22 ms/img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" name="Google Shape;122;p21"/>
          <p:cNvSpPr txBox="1"/>
          <p:nvPr/>
        </p:nvSpPr>
        <p:spPr>
          <a:xfrm>
            <a:off x="2375275" y="5397200"/>
            <a:ext cx="42597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Ubuntu"/>
                <a:ea typeface="Ubuntu"/>
                <a:cs typeface="Ubuntu"/>
                <a:sym typeface="Ubuntu"/>
              </a:rPr>
              <a:t>2 feet</a:t>
            </a:r>
            <a:endParaRPr sz="3600"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80525"/>
            <a:ext cx="2544306" cy="1577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21"/>
          <p:cNvCxnSpPr>
            <a:stCxn id="123" idx="3"/>
          </p:cNvCxnSpPr>
          <p:nvPr/>
        </p:nvCxnSpPr>
        <p:spPr>
          <a:xfrm>
            <a:off x="2544306" y="6069262"/>
            <a:ext cx="678300" cy="8100"/>
          </a:xfrm>
          <a:prstGeom prst="straightConnector1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21"/>
          <p:cNvCxnSpPr/>
          <p:nvPr/>
        </p:nvCxnSpPr>
        <p:spPr>
          <a:xfrm flipH="1" rot="10800000">
            <a:off x="2811250" y="4405000"/>
            <a:ext cx="608700" cy="37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21"/>
          <p:cNvCxnSpPr/>
          <p:nvPr/>
        </p:nvCxnSpPr>
        <p:spPr>
          <a:xfrm>
            <a:off x="2811250" y="4405000"/>
            <a:ext cx="608700" cy="37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5000" y="2654347"/>
            <a:ext cx="2196800" cy="12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341" y="2810079"/>
            <a:ext cx="2627184" cy="125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5463" y="2609362"/>
            <a:ext cx="1796585" cy="133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4125" y="2494837"/>
            <a:ext cx="2627184" cy="12786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22"/>
          <p:cNvCxnSpPr/>
          <p:nvPr/>
        </p:nvCxnSpPr>
        <p:spPr>
          <a:xfrm>
            <a:off x="5876825" y="3278500"/>
            <a:ext cx="323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2"/>
          <p:cNvSpPr/>
          <p:nvPr/>
        </p:nvSpPr>
        <p:spPr>
          <a:xfrm>
            <a:off x="3547300" y="3116800"/>
            <a:ext cx="323400" cy="3234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Ubuntu"/>
              <a:ea typeface="Ubuntu"/>
              <a:cs typeface="Ubuntu"/>
              <a:sym typeface="Ubuntu"/>
            </a:endParaRPr>
          </a:p>
        </p:txBody>
      </p:sp>
      <p:cxnSp>
        <p:nvCxnSpPr>
          <p:cNvPr id="137" name="Google Shape;137;p22"/>
          <p:cNvCxnSpPr>
            <a:stCxn id="136" idx="1"/>
            <a:endCxn id="136" idx="5"/>
          </p:cNvCxnSpPr>
          <p:nvPr/>
        </p:nvCxnSpPr>
        <p:spPr>
          <a:xfrm>
            <a:off x="3594661" y="3164161"/>
            <a:ext cx="228600" cy="22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2"/>
          <p:cNvCxnSpPr>
            <a:stCxn id="136" idx="3"/>
            <a:endCxn id="136" idx="7"/>
          </p:cNvCxnSpPr>
          <p:nvPr/>
        </p:nvCxnSpPr>
        <p:spPr>
          <a:xfrm flipH="1" rot="10800000">
            <a:off x="3594661" y="3164239"/>
            <a:ext cx="228600" cy="22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20465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DPM: </a:t>
            </a:r>
            <a:r>
              <a:rPr b="1" i="1" lang="en" sz="2000">
                <a:latin typeface="Times New Roman"/>
                <a:ea typeface="Times New Roman"/>
                <a:cs typeface="Times New Roman"/>
                <a:sym typeface="Times New Roman"/>
              </a:rPr>
              <a:t>Deformable Part Models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76" y="1947500"/>
            <a:ext cx="8916449" cy="296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Sliding window, DPM, R-CNN all train region-based classifiers to perform detection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050" y="4619900"/>
            <a:ext cx="6333897" cy="2104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5000" y="2654347"/>
            <a:ext cx="2196800" cy="12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5341" y="2810079"/>
            <a:ext cx="2627184" cy="125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75463" y="2609362"/>
            <a:ext cx="1796585" cy="133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125" y="2494837"/>
            <a:ext cx="2627184" cy="12786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4"/>
          <p:cNvCxnSpPr/>
          <p:nvPr/>
        </p:nvCxnSpPr>
        <p:spPr>
          <a:xfrm>
            <a:off x="5876825" y="3278500"/>
            <a:ext cx="323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24"/>
          <p:cNvSpPr/>
          <p:nvPr/>
        </p:nvSpPr>
        <p:spPr>
          <a:xfrm>
            <a:off x="3547300" y="3116800"/>
            <a:ext cx="323400" cy="3234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Ubuntu"/>
              <a:ea typeface="Ubuntu"/>
              <a:cs typeface="Ubuntu"/>
              <a:sym typeface="Ubuntu"/>
            </a:endParaRPr>
          </a:p>
        </p:txBody>
      </p:sp>
      <p:cxnSp>
        <p:nvCxnSpPr>
          <p:cNvPr id="157" name="Google Shape;157;p24"/>
          <p:cNvCxnSpPr>
            <a:stCxn id="156" idx="1"/>
            <a:endCxn id="156" idx="5"/>
          </p:cNvCxnSpPr>
          <p:nvPr/>
        </p:nvCxnSpPr>
        <p:spPr>
          <a:xfrm>
            <a:off x="3594661" y="3164161"/>
            <a:ext cx="228600" cy="22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4"/>
          <p:cNvCxnSpPr>
            <a:stCxn id="156" idx="3"/>
            <a:endCxn id="156" idx="7"/>
          </p:cNvCxnSpPr>
          <p:nvPr/>
        </p:nvCxnSpPr>
        <p:spPr>
          <a:xfrm flipH="1" rot="10800000">
            <a:off x="3594661" y="3164239"/>
            <a:ext cx="228600" cy="22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4"/>
          <p:cNvSpPr txBox="1"/>
          <p:nvPr>
            <p:ph type="title"/>
          </p:nvPr>
        </p:nvSpPr>
        <p:spPr>
          <a:xfrm>
            <a:off x="311700" y="20465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DPM: </a:t>
            </a:r>
            <a:r>
              <a:rPr b="1" i="1" lang="en" sz="2000">
                <a:latin typeface="Times New Roman"/>
                <a:ea typeface="Times New Roman"/>
                <a:cs typeface="Times New Roman"/>
                <a:sym typeface="Times New Roman"/>
              </a:rPr>
              <a:t>Deformable Part Models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300" y="2576100"/>
            <a:ext cx="8363400" cy="170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With YOLO, you only look once at an image to perform detection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300" y="2576100"/>
            <a:ext cx="8363400" cy="17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 txBox="1"/>
          <p:nvPr>
            <p:ph type="title"/>
          </p:nvPr>
        </p:nvSpPr>
        <p:spPr>
          <a:xfrm>
            <a:off x="311700" y="21708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YOLO: </a:t>
            </a:r>
            <a:r>
              <a:rPr b="1" i="1" lang="en" sz="2000">
                <a:latin typeface="Times New Roman"/>
                <a:ea typeface="Times New Roman"/>
                <a:cs typeface="Times New Roman"/>
                <a:sym typeface="Times New Roman"/>
              </a:rPr>
              <a:t>You Only Look Once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0" y="1223363"/>
            <a:ext cx="5508300" cy="550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We split the image into a grid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82" name="Google Shape;1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Each cell predicts boxes and confidences: P(Object)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88" name="Google Shape;1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9"/>
          <p:cNvSpPr/>
          <p:nvPr/>
        </p:nvSpPr>
        <p:spPr>
          <a:xfrm>
            <a:off x="5746275" y="2021300"/>
            <a:ext cx="794100" cy="779700"/>
          </a:xfrm>
          <a:prstGeom prst="rect">
            <a:avLst/>
          </a:prstGeom>
          <a:solidFill>
            <a:srgbClr val="FF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0" y="1223363"/>
            <a:ext cx="5508300" cy="55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/>
          <p:nvPr/>
        </p:nvSpPr>
        <p:spPr>
          <a:xfrm>
            <a:off x="5226525" y="1891375"/>
            <a:ext cx="1862400" cy="1111800"/>
          </a:xfrm>
          <a:prstGeom prst="rect">
            <a:avLst/>
          </a:prstGeom>
          <a:noFill/>
          <a:ln cap="flat" cmpd="sng" w="1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0"/>
          <p:cNvSpPr/>
          <p:nvPr/>
        </p:nvSpPr>
        <p:spPr>
          <a:xfrm>
            <a:off x="5659650" y="2035750"/>
            <a:ext cx="895200" cy="620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7" name="Google Shape;197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Each cell predicts boxes and confidences: P(Object)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0" y="1223363"/>
            <a:ext cx="5508300" cy="550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1"/>
          <p:cNvSpPr/>
          <p:nvPr/>
        </p:nvSpPr>
        <p:spPr>
          <a:xfrm>
            <a:off x="5226525" y="1891375"/>
            <a:ext cx="1862400" cy="1111800"/>
          </a:xfrm>
          <a:prstGeom prst="rect">
            <a:avLst/>
          </a:prstGeom>
          <a:noFill/>
          <a:ln cap="flat" cmpd="sng" w="1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/>
          <p:nvPr/>
        </p:nvSpPr>
        <p:spPr>
          <a:xfrm>
            <a:off x="5659650" y="2035750"/>
            <a:ext cx="895200" cy="620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Each cell predicts boxes and confidences: P(Object)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0" y="1223363"/>
            <a:ext cx="5508300" cy="550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2"/>
          <p:cNvSpPr/>
          <p:nvPr/>
        </p:nvSpPr>
        <p:spPr>
          <a:xfrm>
            <a:off x="5226525" y="1891375"/>
            <a:ext cx="1862400" cy="1111800"/>
          </a:xfrm>
          <a:prstGeom prst="rect">
            <a:avLst/>
          </a:prstGeom>
          <a:noFill/>
          <a:ln cap="flat" cmpd="sng" w="1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2"/>
          <p:cNvSpPr/>
          <p:nvPr/>
        </p:nvSpPr>
        <p:spPr>
          <a:xfrm>
            <a:off x="5659650" y="2035750"/>
            <a:ext cx="895200" cy="620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5" name="Google Shape;215;p32"/>
          <p:cNvSpPr/>
          <p:nvPr/>
        </p:nvSpPr>
        <p:spPr>
          <a:xfrm>
            <a:off x="5753514" y="5168762"/>
            <a:ext cx="794100" cy="779700"/>
          </a:xfrm>
          <a:prstGeom prst="rect">
            <a:avLst/>
          </a:prstGeom>
          <a:solidFill>
            <a:srgbClr val="FF0000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Each cell predicts boxes and confidences: P(Object)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0" y="1223363"/>
            <a:ext cx="5508300" cy="55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3"/>
          <p:cNvSpPr/>
          <p:nvPr/>
        </p:nvSpPr>
        <p:spPr>
          <a:xfrm>
            <a:off x="5385325" y="4547925"/>
            <a:ext cx="1501500" cy="1833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3"/>
          <p:cNvSpPr/>
          <p:nvPr/>
        </p:nvSpPr>
        <p:spPr>
          <a:xfrm>
            <a:off x="5226525" y="1891375"/>
            <a:ext cx="1862400" cy="1111800"/>
          </a:xfrm>
          <a:prstGeom prst="rect">
            <a:avLst/>
          </a:prstGeom>
          <a:noFill/>
          <a:ln cap="flat" cmpd="sng" w="1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3"/>
          <p:cNvSpPr/>
          <p:nvPr/>
        </p:nvSpPr>
        <p:spPr>
          <a:xfrm>
            <a:off x="5674075" y="4923325"/>
            <a:ext cx="794100" cy="952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3"/>
          <p:cNvSpPr/>
          <p:nvPr/>
        </p:nvSpPr>
        <p:spPr>
          <a:xfrm>
            <a:off x="5659650" y="2035750"/>
            <a:ext cx="895200" cy="620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6" name="Google Shape;226;p3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Each cell predicts boxes and confidences: P(Object)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0" y="1223363"/>
            <a:ext cx="5508300" cy="55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/>
          <p:nvPr/>
        </p:nvSpPr>
        <p:spPr>
          <a:xfrm>
            <a:off x="5385325" y="4547925"/>
            <a:ext cx="1501500" cy="1833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4"/>
          <p:cNvSpPr/>
          <p:nvPr/>
        </p:nvSpPr>
        <p:spPr>
          <a:xfrm>
            <a:off x="5226525" y="1891375"/>
            <a:ext cx="1862400" cy="1111800"/>
          </a:xfrm>
          <a:prstGeom prst="rect">
            <a:avLst/>
          </a:prstGeom>
          <a:noFill/>
          <a:ln cap="flat" cmpd="sng" w="114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4"/>
          <p:cNvSpPr/>
          <p:nvPr/>
        </p:nvSpPr>
        <p:spPr>
          <a:xfrm>
            <a:off x="5674075" y="4923325"/>
            <a:ext cx="794100" cy="952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4"/>
          <p:cNvSpPr/>
          <p:nvPr/>
        </p:nvSpPr>
        <p:spPr>
          <a:xfrm>
            <a:off x="5659650" y="2035750"/>
            <a:ext cx="895200" cy="620700"/>
          </a:xfrm>
          <a:prstGeom prst="rect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36" name="Google Shape;23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7850" y="1223375"/>
            <a:ext cx="5508300" cy="55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Each cell predicts boxes and confidences: P(Object)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Each cell also predicts a class probability.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43" name="Google Shape;24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48" y="1223375"/>
            <a:ext cx="5508301" cy="550113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Each cell also predicts a class probability.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50" name="Google Shape;250;p36"/>
          <p:cNvSpPr txBox="1"/>
          <p:nvPr/>
        </p:nvSpPr>
        <p:spPr>
          <a:xfrm>
            <a:off x="669100" y="4425025"/>
            <a:ext cx="1079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Ubuntu"/>
                <a:ea typeface="Ubuntu"/>
                <a:cs typeface="Ubuntu"/>
                <a:sym typeface="Ubuntu"/>
              </a:rPr>
              <a:t>Dog</a:t>
            </a:r>
            <a:endParaRPr sz="3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51" name="Google Shape;251;p36"/>
          <p:cNvSpPr txBox="1"/>
          <p:nvPr/>
        </p:nvSpPr>
        <p:spPr>
          <a:xfrm>
            <a:off x="372400" y="1688250"/>
            <a:ext cx="167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Ubuntu"/>
                <a:ea typeface="Ubuntu"/>
                <a:cs typeface="Ubuntu"/>
                <a:sym typeface="Ubuntu"/>
              </a:rPr>
              <a:t>Bicycle</a:t>
            </a:r>
            <a:endParaRPr sz="3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52" name="Google Shape;252;p36"/>
          <p:cNvSpPr txBox="1"/>
          <p:nvPr/>
        </p:nvSpPr>
        <p:spPr>
          <a:xfrm>
            <a:off x="7395200" y="1840675"/>
            <a:ext cx="167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Ubuntu"/>
                <a:ea typeface="Ubuntu"/>
                <a:cs typeface="Ubuntu"/>
                <a:sym typeface="Ubuntu"/>
              </a:rPr>
              <a:t>Car</a:t>
            </a:r>
            <a:endParaRPr sz="3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53" name="Google Shape;253;p36"/>
          <p:cNvSpPr txBox="1"/>
          <p:nvPr/>
        </p:nvSpPr>
        <p:spPr>
          <a:xfrm>
            <a:off x="7395200" y="5672975"/>
            <a:ext cx="167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Ubuntu"/>
                <a:ea typeface="Ubuntu"/>
                <a:cs typeface="Ubuntu"/>
                <a:sym typeface="Ubuntu"/>
              </a:rPr>
              <a:t>Dining Table</a:t>
            </a:r>
            <a:endParaRPr sz="300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48" y="1223375"/>
            <a:ext cx="5508301" cy="550113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Conditioned on object: P(Car | Object)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60" name="Google Shape;260;p37"/>
          <p:cNvSpPr txBox="1"/>
          <p:nvPr/>
        </p:nvSpPr>
        <p:spPr>
          <a:xfrm>
            <a:off x="669100" y="4425025"/>
            <a:ext cx="1079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Ubuntu"/>
                <a:ea typeface="Ubuntu"/>
                <a:cs typeface="Ubuntu"/>
                <a:sym typeface="Ubuntu"/>
              </a:rPr>
              <a:t>Dog</a:t>
            </a:r>
            <a:endParaRPr sz="3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61" name="Google Shape;261;p37"/>
          <p:cNvSpPr txBox="1"/>
          <p:nvPr/>
        </p:nvSpPr>
        <p:spPr>
          <a:xfrm>
            <a:off x="372400" y="1688250"/>
            <a:ext cx="167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Ubuntu"/>
                <a:ea typeface="Ubuntu"/>
                <a:cs typeface="Ubuntu"/>
                <a:sym typeface="Ubuntu"/>
              </a:rPr>
              <a:t>Bicycle</a:t>
            </a:r>
            <a:endParaRPr sz="3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62" name="Google Shape;262;p37"/>
          <p:cNvSpPr txBox="1"/>
          <p:nvPr/>
        </p:nvSpPr>
        <p:spPr>
          <a:xfrm>
            <a:off x="7395200" y="1840675"/>
            <a:ext cx="167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Ubuntu"/>
                <a:ea typeface="Ubuntu"/>
                <a:cs typeface="Ubuntu"/>
                <a:sym typeface="Ubuntu"/>
              </a:rPr>
              <a:t>Car</a:t>
            </a:r>
            <a:endParaRPr sz="3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63" name="Google Shape;263;p37"/>
          <p:cNvSpPr txBox="1"/>
          <p:nvPr/>
        </p:nvSpPr>
        <p:spPr>
          <a:xfrm>
            <a:off x="7395200" y="5672975"/>
            <a:ext cx="167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Ubuntu"/>
                <a:ea typeface="Ubuntu"/>
                <a:cs typeface="Ubuntu"/>
                <a:sym typeface="Ubuntu"/>
              </a:rPr>
              <a:t>Dining Table</a:t>
            </a:r>
            <a:endParaRPr sz="300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0" y="1223375"/>
            <a:ext cx="5508300" cy="55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Then we combine the box and class predictions.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0" y="1223375"/>
            <a:ext cx="5508300" cy="55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Finally we do NMS and threshold detections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Each cell predicts: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Ubuntu"/>
              <a:buChar char="-"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For each bounding box: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Ubuntu"/>
              <a:buChar char="-"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4 coordinates (x, y, w, h)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Ubuntu"/>
              <a:buChar char="-"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1 confidence value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Ubuntu"/>
              <a:buChar char="-"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Some number of class </a:t>
            </a:r>
            <a:b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</a:b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probabilities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For Pascal VOC: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Ubuntu"/>
              <a:buChar char="-"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7x7 grid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Ubuntu"/>
              <a:buChar char="-"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2 bounding boxes / cell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Ubuntu"/>
              <a:buChar char="-"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20 classes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7 x 7 x (2 x 5 + 20) = 7 x 7 x 3</a:t>
            </a: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0</a:t>
            </a: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tensor = </a:t>
            </a:r>
            <a:r>
              <a:rPr b="1"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1470 outputs</a:t>
            </a:r>
            <a:endParaRPr b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81" name="Google Shape;28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650" y="1849000"/>
            <a:ext cx="5551351" cy="360332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This parameterization fixes the output size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Thus we can train one neural network to be a whole detection pipeline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88" name="Google Shape;28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39692"/>
            <a:ext cx="9143998" cy="3390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94" name="Google Shape;294;p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During training, match example to the right cell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95" name="Google Shape;29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2"/>
          <p:cNvSpPr/>
          <p:nvPr/>
        </p:nvSpPr>
        <p:spPr>
          <a:xfrm>
            <a:off x="1961600" y="3330150"/>
            <a:ext cx="1657500" cy="3071700"/>
          </a:xfrm>
          <a:prstGeom prst="rect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2"/>
          <p:cNvSpPr/>
          <p:nvPr/>
        </p:nvSpPr>
        <p:spPr>
          <a:xfrm>
            <a:off x="2668725" y="4744375"/>
            <a:ext cx="243300" cy="2433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03" name="Google Shape;303;p4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During training, match example to the right cell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04" name="Google Shape;3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3"/>
          <p:cNvSpPr/>
          <p:nvPr/>
        </p:nvSpPr>
        <p:spPr>
          <a:xfrm>
            <a:off x="2668725" y="4744375"/>
            <a:ext cx="243300" cy="2433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3"/>
          <p:cNvSpPr/>
          <p:nvPr/>
        </p:nvSpPr>
        <p:spPr>
          <a:xfrm>
            <a:off x="2615481" y="4379406"/>
            <a:ext cx="775500" cy="7635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623400" y="41969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Dog = 1</a:t>
            </a:r>
            <a:endParaRPr b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Cat = 0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Bike = 0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...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12" name="Google Shape;312;p4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Adjust that cell’s class prediction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13" name="Google Shape;31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4"/>
          <p:cNvSpPr/>
          <p:nvPr/>
        </p:nvSpPr>
        <p:spPr>
          <a:xfrm>
            <a:off x="2615481" y="4379406"/>
            <a:ext cx="775500" cy="7635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20" name="Google Shape;320;p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Look at that cell’s predicted boxes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21" name="Google Shape;32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5"/>
          <p:cNvSpPr/>
          <p:nvPr/>
        </p:nvSpPr>
        <p:spPr>
          <a:xfrm>
            <a:off x="1885575" y="3238925"/>
            <a:ext cx="2037600" cy="3010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5"/>
          <p:cNvSpPr/>
          <p:nvPr/>
        </p:nvSpPr>
        <p:spPr>
          <a:xfrm>
            <a:off x="2539425" y="4075275"/>
            <a:ext cx="1003500" cy="11556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29" name="Google Shape;329;p4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Find the best one, adjust it, increase the confidence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30" name="Google Shape;33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6"/>
          <p:cNvSpPr/>
          <p:nvPr/>
        </p:nvSpPr>
        <p:spPr>
          <a:xfrm>
            <a:off x="1961600" y="3330150"/>
            <a:ext cx="1657500" cy="3071700"/>
          </a:xfrm>
          <a:prstGeom prst="rect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6"/>
          <p:cNvSpPr/>
          <p:nvPr/>
        </p:nvSpPr>
        <p:spPr>
          <a:xfrm>
            <a:off x="1885575" y="3238925"/>
            <a:ext cx="2037600" cy="3010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6"/>
          <p:cNvSpPr/>
          <p:nvPr/>
        </p:nvSpPr>
        <p:spPr>
          <a:xfrm>
            <a:off x="2539425" y="4075275"/>
            <a:ext cx="1003500" cy="11556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39" name="Google Shape;339;p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Find the best one, adjust it, increase the confidence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40" name="Google Shape;34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7"/>
          <p:cNvSpPr/>
          <p:nvPr/>
        </p:nvSpPr>
        <p:spPr>
          <a:xfrm>
            <a:off x="1885575" y="3238925"/>
            <a:ext cx="2037600" cy="30108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7"/>
          <p:cNvSpPr/>
          <p:nvPr/>
        </p:nvSpPr>
        <p:spPr>
          <a:xfrm>
            <a:off x="2539425" y="4075275"/>
            <a:ext cx="1003500" cy="11556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3" name="Google Shape;343;p47"/>
          <p:cNvCxnSpPr/>
          <p:nvPr/>
        </p:nvCxnSpPr>
        <p:spPr>
          <a:xfrm flipH="1">
            <a:off x="3923175" y="2402600"/>
            <a:ext cx="729900" cy="729900"/>
          </a:xfrm>
          <a:prstGeom prst="straightConnector1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49" name="Google Shape;349;p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Find the best one, adjust it, increase the confidence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50" name="Google Shape;35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8"/>
          <p:cNvSpPr/>
          <p:nvPr/>
        </p:nvSpPr>
        <p:spPr>
          <a:xfrm>
            <a:off x="1885575" y="3238925"/>
            <a:ext cx="2037600" cy="3010800"/>
          </a:xfrm>
          <a:prstGeom prst="rect">
            <a:avLst/>
          </a:prstGeom>
          <a:noFill/>
          <a:ln cap="flat" cmpd="sng" w="114300">
            <a:solidFill>
              <a:srgbClr val="00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8"/>
          <p:cNvSpPr/>
          <p:nvPr/>
        </p:nvSpPr>
        <p:spPr>
          <a:xfrm>
            <a:off x="2539425" y="4075275"/>
            <a:ext cx="1003500" cy="11556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3" name="Google Shape;353;p48"/>
          <p:cNvCxnSpPr/>
          <p:nvPr/>
        </p:nvCxnSpPr>
        <p:spPr>
          <a:xfrm flipH="1">
            <a:off x="3923175" y="2402600"/>
            <a:ext cx="729900" cy="729900"/>
          </a:xfrm>
          <a:prstGeom prst="straightConnector1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59" name="Google Shape;359;p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Decrease the confidence of other boxes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60" name="Google Shape;36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9"/>
          <p:cNvSpPr/>
          <p:nvPr/>
        </p:nvSpPr>
        <p:spPr>
          <a:xfrm>
            <a:off x="1885575" y="3238925"/>
            <a:ext cx="2037600" cy="3010800"/>
          </a:xfrm>
          <a:prstGeom prst="rect">
            <a:avLst/>
          </a:prstGeom>
          <a:noFill/>
          <a:ln cap="flat" cmpd="sng" w="114300">
            <a:solidFill>
              <a:srgbClr val="00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9"/>
          <p:cNvSpPr/>
          <p:nvPr/>
        </p:nvSpPr>
        <p:spPr>
          <a:xfrm>
            <a:off x="2539425" y="4075275"/>
            <a:ext cx="1003500" cy="11556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3" name="Google Shape;363;p49"/>
          <p:cNvCxnSpPr/>
          <p:nvPr/>
        </p:nvCxnSpPr>
        <p:spPr>
          <a:xfrm flipH="1">
            <a:off x="2630400" y="4521225"/>
            <a:ext cx="334800" cy="263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69" name="Google Shape;369;p5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Decrease the confidence of other boxes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70" name="Google Shape;37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0"/>
          <p:cNvSpPr/>
          <p:nvPr/>
        </p:nvSpPr>
        <p:spPr>
          <a:xfrm>
            <a:off x="1885575" y="3238925"/>
            <a:ext cx="2037600" cy="3010800"/>
          </a:xfrm>
          <a:prstGeom prst="rect">
            <a:avLst/>
          </a:prstGeom>
          <a:noFill/>
          <a:ln cap="flat" cmpd="sng" w="114300">
            <a:solidFill>
              <a:srgbClr val="00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0"/>
          <p:cNvSpPr/>
          <p:nvPr/>
        </p:nvSpPr>
        <p:spPr>
          <a:xfrm>
            <a:off x="2539425" y="4075275"/>
            <a:ext cx="1003500" cy="11556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3" name="Google Shape;373;p50"/>
          <p:cNvCxnSpPr/>
          <p:nvPr/>
        </p:nvCxnSpPr>
        <p:spPr>
          <a:xfrm flipH="1">
            <a:off x="2630400" y="4521225"/>
            <a:ext cx="334800" cy="263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79" name="Google Shape;379;p5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Some cells don’t have any ground truth detections!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80" name="Google Shape;38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1"/>
          <p:cNvSpPr/>
          <p:nvPr/>
        </p:nvSpPr>
        <p:spPr>
          <a:xfrm>
            <a:off x="4972431" y="4379237"/>
            <a:ext cx="775500" cy="7635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87" name="Google Shape;387;p5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Some cells don’t have any ground truth detections!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88" name="Google Shape;38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2"/>
          <p:cNvSpPr/>
          <p:nvPr/>
        </p:nvSpPr>
        <p:spPr>
          <a:xfrm>
            <a:off x="4797675" y="4136425"/>
            <a:ext cx="1125000" cy="1386600"/>
          </a:xfrm>
          <a:prstGeom prst="rect">
            <a:avLst/>
          </a:prstGeom>
          <a:noFill/>
          <a:ln cap="flat" cmpd="sng" w="76200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52"/>
          <p:cNvSpPr/>
          <p:nvPr/>
        </p:nvSpPr>
        <p:spPr>
          <a:xfrm>
            <a:off x="3619100" y="2858775"/>
            <a:ext cx="3269400" cy="3649500"/>
          </a:xfrm>
          <a:prstGeom prst="rect">
            <a:avLst/>
          </a:prstGeom>
          <a:noFill/>
          <a:ln cap="flat" cmpd="sng" w="76200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96" name="Google Shape;396;p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Decrease the confidence of these boxes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97" name="Google Shape;39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3"/>
          <p:cNvSpPr/>
          <p:nvPr/>
        </p:nvSpPr>
        <p:spPr>
          <a:xfrm>
            <a:off x="4797675" y="4136425"/>
            <a:ext cx="1125000" cy="1386600"/>
          </a:xfrm>
          <a:prstGeom prst="rect">
            <a:avLst/>
          </a:prstGeom>
          <a:noFill/>
          <a:ln cap="flat" cmpd="sng" w="76200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3"/>
          <p:cNvSpPr/>
          <p:nvPr/>
        </p:nvSpPr>
        <p:spPr>
          <a:xfrm>
            <a:off x="3619100" y="2858775"/>
            <a:ext cx="3269400" cy="3649500"/>
          </a:xfrm>
          <a:prstGeom prst="rect">
            <a:avLst/>
          </a:prstGeom>
          <a:noFill/>
          <a:ln cap="flat" cmpd="sng" w="76200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05" name="Google Shape;405;p5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Decrease the confidence of these boxes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406" name="Google Shape;40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4"/>
          <p:cNvSpPr/>
          <p:nvPr/>
        </p:nvSpPr>
        <p:spPr>
          <a:xfrm>
            <a:off x="3619100" y="2858775"/>
            <a:ext cx="3269400" cy="36495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4"/>
          <p:cNvSpPr/>
          <p:nvPr/>
        </p:nvSpPr>
        <p:spPr>
          <a:xfrm>
            <a:off x="4797675" y="4136425"/>
            <a:ext cx="1125000" cy="13866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414" name="Google Shape;414;p5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Don’t adjust the class probabilities or coordinates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415" name="Google Shape;41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852" y="1226950"/>
            <a:ext cx="5508305" cy="5501124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5"/>
          <p:cNvSpPr/>
          <p:nvPr/>
        </p:nvSpPr>
        <p:spPr>
          <a:xfrm>
            <a:off x="4972431" y="4379237"/>
            <a:ext cx="775500" cy="7635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5"/>
          <p:cNvSpPr/>
          <p:nvPr/>
        </p:nvSpPr>
        <p:spPr>
          <a:xfrm>
            <a:off x="3619100" y="2858775"/>
            <a:ext cx="3269400" cy="36495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5"/>
          <p:cNvSpPr/>
          <p:nvPr/>
        </p:nvSpPr>
        <p:spPr>
          <a:xfrm>
            <a:off x="4797675" y="4136425"/>
            <a:ext cx="1125000" cy="13866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We train with standard tricks: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424" name="Google Shape;42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67592"/>
            <a:ext cx="9143998" cy="3390414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Ubuntu"/>
              <a:buChar char="-"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Pretraining on Imagenet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-"/>
            </a:pP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SGD with decreasing learning rate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Ubuntu"/>
              <a:buChar char="-"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Extensive data augmentation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Ubuntu"/>
              <a:buChar char="-"/>
            </a:pPr>
            <a:r>
              <a:rPr lang="en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For details, see the paper</a:t>
            </a:r>
            <a:endParaRPr>
              <a:solidFill>
                <a:srgbClr val="000000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YOLO works across a variety of natural images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431" name="Google Shape;43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56863"/>
            <a:ext cx="3257550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7571" y="1424646"/>
            <a:ext cx="4928875" cy="278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5938" y="3453297"/>
            <a:ext cx="2772125" cy="330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It also generalizes well to new domains (like art)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439" name="Google Shape;43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271575"/>
            <a:ext cx="3438525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7637" y="4056695"/>
            <a:ext cx="3540826" cy="26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5888" y="1356863"/>
            <a:ext cx="3000375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YOLO outperforms methods like DPM and R-CNN when generalizing to person detection in artwork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447" name="Google Shape;44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25" y="2374526"/>
            <a:ext cx="3609450" cy="280061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9"/>
          <p:cNvSpPr txBox="1"/>
          <p:nvPr/>
        </p:nvSpPr>
        <p:spPr>
          <a:xfrm>
            <a:off x="153325" y="5793600"/>
            <a:ext cx="91230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/>
              <a:t>S. Ginosar, D. Haas, T. Brown, and J. Malik. Detecting people in cubist art. In Computer Vision-ECCV 2014 Workshops, pages 101–116. Springer, 2014.</a:t>
            </a:r>
            <a:endParaRPr i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/>
              <a:t>H. Cai, Q. Wu, T. Corradi, and P. Hall. The cross-depiction problem: Computer vision algorithms for recognising objects in artwork and in photographs.</a:t>
            </a:r>
            <a:endParaRPr i="1" sz="1100"/>
          </a:p>
        </p:txBody>
      </p:sp>
      <p:pic>
        <p:nvPicPr>
          <p:cNvPr id="449" name="Google Shape;449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9475" y="2777898"/>
            <a:ext cx="5069525" cy="1302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67592"/>
            <a:ext cx="9143998" cy="339041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5" name="Google Shape;455;p60"/>
          <p:cNvGraphicFramePr/>
          <p:nvPr/>
        </p:nvGraphicFramePr>
        <p:xfrm>
          <a:off x="952500" y="1244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{A7856B20-50A5-466E-9667-D701A1A0AF8C}</a:tableStyleId>
              </a:tblPr>
              <a:tblGrid>
                <a:gridCol w="1809750"/>
                <a:gridCol w="2969475"/>
                <a:gridCol w="1029175"/>
                <a:gridCol w="1430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Pascal 2007 mAP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Ubuntu"/>
                          <a:ea typeface="Ubuntu"/>
                          <a:cs typeface="Ubuntu"/>
                          <a:sym typeface="Ubuntu"/>
                        </a:rPr>
                        <a:t>Speed</a:t>
                      </a:r>
                      <a:endParaRPr b="1" sz="24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DPM v5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33.7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.07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14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66.0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.05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20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Fast 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70.0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.5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2 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Faster R-CNN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73.2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7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140 ms/img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YOLO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63.4   69.0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45 FPS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Ubuntu"/>
                          <a:ea typeface="Ubuntu"/>
                          <a:cs typeface="Ubuntu"/>
                          <a:sym typeface="Ubuntu"/>
                        </a:rPr>
                        <a:t>22 ms/img</a:t>
                      </a:r>
                      <a:endParaRPr sz="180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56" name="Google Shape;456;p60"/>
          <p:cNvCxnSpPr/>
          <p:nvPr/>
        </p:nvCxnSpPr>
        <p:spPr>
          <a:xfrm flipH="1" rot="10800000">
            <a:off x="2811250" y="3671655"/>
            <a:ext cx="608700" cy="37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60"/>
          <p:cNvCxnSpPr/>
          <p:nvPr/>
        </p:nvCxnSpPr>
        <p:spPr>
          <a:xfrm>
            <a:off x="2811250" y="3671655"/>
            <a:ext cx="608700" cy="37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60"/>
          <p:cNvSpPr txBox="1"/>
          <p:nvPr>
            <p:ph type="title"/>
          </p:nvPr>
        </p:nvSpPr>
        <p:spPr>
          <a:xfrm>
            <a:off x="311700" y="317642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Code available!   </a:t>
            </a:r>
            <a:r>
              <a:rPr lang="en" u="sng">
                <a:solidFill>
                  <a:srgbClr val="0000FF"/>
                </a:solidFill>
                <a:latin typeface="Ubuntu"/>
                <a:ea typeface="Ubuntu"/>
                <a:cs typeface="Ubuntu"/>
                <a:sym typeface="Ubuntu"/>
              </a:rPr>
              <a:t>pjreddie.com/yolo</a:t>
            </a:r>
            <a:endParaRPr u="sng">
              <a:solidFill>
                <a:srgbClr val="0000FF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459" name="Google Shape;459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7293" y="255575"/>
            <a:ext cx="763500" cy="7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7893" y="249900"/>
            <a:ext cx="763501" cy="774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76693" y="255575"/>
            <a:ext cx="763499" cy="76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